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</p:sldMasterIdLst>
  <p:notesMasterIdLst>
    <p:notesMasterId r:id="rId19"/>
  </p:notesMasterIdLst>
  <p:sldIdLst>
    <p:sldId id="256" r:id="rId3"/>
    <p:sldId id="571" r:id="rId4"/>
    <p:sldId id="572" r:id="rId5"/>
    <p:sldId id="573" r:id="rId6"/>
    <p:sldId id="574" r:id="rId7"/>
    <p:sldId id="575" r:id="rId8"/>
    <p:sldId id="580" r:id="rId9"/>
    <p:sldId id="576" r:id="rId10"/>
    <p:sldId id="581" r:id="rId11"/>
    <p:sldId id="582" r:id="rId12"/>
    <p:sldId id="583" r:id="rId13"/>
    <p:sldId id="584" r:id="rId14"/>
    <p:sldId id="577" r:id="rId15"/>
    <p:sldId id="579" r:id="rId16"/>
    <p:sldId id="578" r:id="rId17"/>
    <p:sldId id="536" r:id="rId18"/>
  </p:sldIdLst>
  <p:sldSz cx="12192000" cy="6858000"/>
  <p:notesSz cx="6858000" cy="9144000"/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3" orient="horz" pos="9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B9636B-3D94-EB3D-7CF5-3935240F8C9F}" name="Ramar Bose" initials="RB" userId="S::ramar@edunetfoundation.org::ae727035-80f4-46a2-9b41-59f778a1b49a" providerId="AD"/>
  <p188:author id="{D0A8B7BB-36D1-777B-64C8-9A30C894A727}" name="Rashmi Mishra" initials="RM" userId="S::rmishra@edunetfoundation.org::6469e6c3-66fa-4f4f-9c10-a71ac4161b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A751"/>
    <a:srgbClr val="263570"/>
    <a:srgbClr val="4A9DE2"/>
    <a:srgbClr val="88BFEC"/>
    <a:srgbClr val="F9B1B1"/>
    <a:srgbClr val="B2DE82"/>
    <a:srgbClr val="F57373"/>
    <a:srgbClr val="F03434"/>
    <a:srgbClr val="BC7D00"/>
    <a:srgbClr val="FFB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3818" autoAdjust="0"/>
  </p:normalViewPr>
  <p:slideViewPr>
    <p:cSldViewPr snapToGrid="0">
      <p:cViewPr varScale="1">
        <p:scale>
          <a:sx n="89" d="100"/>
          <a:sy n="89" d="100"/>
        </p:scale>
        <p:origin x="437" y="86"/>
      </p:cViewPr>
      <p:guideLst>
        <p:guide orient="horz" pos="672"/>
        <p:guide pos="312"/>
        <p:guide orient="horz" pos="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8/10/relationships/authors" Target="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99836-02B7-459A-AF64-A000817D576C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65E4E-ABE4-4C79-8716-B93932D5F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33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266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88B07-5A8B-12D3-48D5-B8315D13C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B6700-05A0-7411-109E-A374569B6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8D759-B238-4D1C-A179-63DF885F6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31F17-191B-CFE4-28A8-DF229B949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854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062684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6909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54273-D1B2-B5DA-BF7E-9FF169DF6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EE723-48AC-C184-D51D-DB184D9E4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A217C-58BE-CEDC-FE42-FFECCA161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A99E-0146-4BD9-9E30-4EB71F3A420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67DFB-4595-5610-E73D-EA112439D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188B-8994-FE2D-E924-64F2FB541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81918-31C6-44C6-A382-2FA557A3F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928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592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8856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7107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229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870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747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BE36FD2-5CF9-42B6-267C-75A9A8826A1C}"/>
              </a:ext>
            </a:extLst>
          </p:cNvPr>
          <p:cNvSpPr/>
          <p:nvPr userDrawn="1"/>
        </p:nvSpPr>
        <p:spPr>
          <a:xfrm>
            <a:off x="0" y="0"/>
            <a:ext cx="10374086" cy="6604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F6CF07-40A9-24A4-F336-0BDA8D93267D}"/>
              </a:ext>
            </a:extLst>
          </p:cNvPr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66C649D9-DD8B-5B7D-F409-A3797AEF3D3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05" y="91005"/>
            <a:ext cx="1466678" cy="47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7"/>
    </p:custDataLst>
    <p:extLst>
      <p:ext uri="{BB962C8B-B14F-4D97-AF65-F5344CB8AC3E}">
        <p14:creationId xmlns:p14="http://schemas.microsoft.com/office/powerpoint/2010/main" val="347897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5" r:id="rId2"/>
    <p:sldLayoutId id="2147483666" r:id="rId3"/>
    <p:sldLayoutId id="2147483667" r:id="rId4"/>
    <p:sldLayoutId id="2147483668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5179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powerbi.microsoft.com/" TargetMode="External"/><Relationship Id="rId2" Type="http://schemas.openxmlformats.org/officeDocument/2006/relationships/hyperlink" Target="https://learn.microsoft.com/en-us/power-bi/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learn.microsoft.com/en-us/power-query/" TargetMode="External"/><Relationship Id="rId5" Type="http://schemas.openxmlformats.org/officeDocument/2006/relationships/hyperlink" Target="https://www.kaggle.com/datasets" TargetMode="External"/><Relationship Id="rId4" Type="http://schemas.openxmlformats.org/officeDocument/2006/relationships/hyperlink" Target="https://www.who.int/data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40A069D-B6C2-7B0A-6719-9C65A27E0952}"/>
              </a:ext>
            </a:extLst>
          </p:cNvPr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C78EFA-3B33-383D-31A6-F48EC0533950}"/>
              </a:ext>
            </a:extLst>
          </p:cNvPr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DD7732-9B23-40F7-1FF7-FD50BDC193D8}"/>
              </a:ext>
            </a:extLst>
          </p:cNvPr>
          <p:cNvSpPr/>
          <p:nvPr/>
        </p:nvSpPr>
        <p:spPr>
          <a:xfrm>
            <a:off x="7913913" y="0"/>
            <a:ext cx="4985657" cy="315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DA2A85-6D5C-2987-0FF8-3AF240456D3B}"/>
              </a:ext>
            </a:extLst>
          </p:cNvPr>
          <p:cNvSpPr/>
          <p:nvPr/>
        </p:nvSpPr>
        <p:spPr>
          <a:xfrm>
            <a:off x="-32657" y="6509659"/>
            <a:ext cx="12888684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4D362339-2CD4-BEA9-8BCD-81A300A3C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04" y="316620"/>
            <a:ext cx="1725854" cy="56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F837936-4230-3A98-A2A1-6E77E027B36D}"/>
              </a:ext>
            </a:extLst>
          </p:cNvPr>
          <p:cNvSpPr>
            <a:spLocks noGrp="1"/>
          </p:cNvSpPr>
          <p:nvPr/>
        </p:nvSpPr>
        <p:spPr>
          <a:xfrm>
            <a:off x="517379" y="1343054"/>
            <a:ext cx="4746772" cy="250676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kern="1200" dirty="0">
                <a:latin typeface="+mj-lt"/>
                <a:ea typeface="+mj-ea"/>
                <a:cs typeface="+mj-cs"/>
              </a:rPr>
              <a:t>CAPSTONE </a:t>
            </a:r>
            <a:r>
              <a:rPr lang="en-US" sz="2800" b="1" dirty="0"/>
              <a:t>PROJECT</a:t>
            </a:r>
            <a:endParaRPr lang="en-US" sz="5100" dirty="0">
              <a:latin typeface="Aptos"/>
            </a:endParaRPr>
          </a:p>
          <a:p>
            <a:pPr algn="l"/>
            <a:br>
              <a:rPr lang="en-US" sz="5100" b="1" dirty="0"/>
            </a:br>
            <a:r>
              <a:rPr lang="en-US" sz="5100" b="1" cap="all" dirty="0">
                <a:latin typeface="Aptos"/>
              </a:rPr>
              <a:t>Life expectancy analysis and visualization using power BI</a:t>
            </a:r>
            <a:endParaRPr lang="en-US" sz="5100" dirty="0">
              <a:latin typeface="Aptos"/>
            </a:endParaRPr>
          </a:p>
          <a:p>
            <a:pPr algn="l"/>
            <a:endParaRPr lang="en-US" sz="5100" b="1" kern="12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A663A0C-3931-F8E6-391C-2FF1FDBB09CD}"/>
              </a:ext>
            </a:extLst>
          </p:cNvPr>
          <p:cNvSpPr>
            <a:spLocks noGrp="1"/>
          </p:cNvSpPr>
          <p:nvPr/>
        </p:nvSpPr>
        <p:spPr>
          <a:xfrm>
            <a:off x="594126" y="3739889"/>
            <a:ext cx="4528593" cy="196217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600" b="1" cap="all" dirty="0"/>
              <a:t>Presented By</a:t>
            </a:r>
            <a:endParaRPr lang="en-US" sz="1600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Student Name: Prasanth m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College Name: Vellore institute of technology, vellore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Department: mtech - cse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Email ID: prasanthtech1905@gmail.com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67F6BE-DACE-0F2C-4219-254A57A2FE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714182"/>
            <a:ext cx="5143500" cy="3429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10333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E0E59-694D-9DFE-4488-37D5F2F48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9850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5400" b="1" cap="all" dirty="0">
                <a:latin typeface="Arial"/>
                <a:cs typeface="Arial"/>
              </a:rPr>
              <a:t>OUTLINE: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4173D-62A9-AF06-B476-EEB827087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387" y="1822228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Problem Statement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Proposed System/Solution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System Development Approach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Algorithm &amp; Deployment  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Result 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Conclusion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Future Scope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References</a:t>
            </a:r>
            <a:endParaRPr lang="en-US" sz="2200" dirty="0">
              <a:latin typeface="Arial"/>
              <a:cs typeface="Arial"/>
            </a:endParaRPr>
          </a:p>
          <a:p>
            <a:endParaRPr lang="en-GB" sz="2200" dirty="0">
              <a:latin typeface="Aptos" panose="020B0004020202020204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7874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9B35C-A00A-C6C7-8532-576758ED4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Problem Statement: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8C97F-5AC9-F1CA-3CCC-090D5B139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12" y="1715071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2400" dirty="0"/>
              <a:t>Life expectancy is one of the most important indicators of a country’s overall health and development. However, raw life expectancy data is often large, complex, and difficult to interpret using traditional analysis methods.</a:t>
            </a:r>
          </a:p>
          <a:p>
            <a:pPr>
              <a:buNone/>
            </a:pPr>
            <a:r>
              <a:rPr lang="en-US" sz="2400" dirty="0"/>
              <a:t>Without proper visualization, it becomes challenging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Compare life expectancy across countries and regions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Analyze trends over years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Understand the impact of factors such as GDP, healthcare, and population</a:t>
            </a:r>
          </a:p>
          <a:p>
            <a:pPr>
              <a:buNone/>
            </a:pPr>
            <a:r>
              <a:rPr lang="en-US" sz="2400" dirty="0"/>
              <a:t>There is a need for an interactive and visual analytics system that can transform life expectancy data into meaningful insights.</a:t>
            </a: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372914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7B4B1-584E-2479-D762-2265C7398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Proposed Solution: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7202D-4065-DDD7-98F1-4291C536D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075" y="1304306"/>
            <a:ext cx="10515600" cy="425196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2000" dirty="0"/>
              <a:t>The proposed system is a Power BI–based data visualization dashboard that analyzes and presents life expectancy data in an interactive and user-friendly manner.</a:t>
            </a:r>
          </a:p>
          <a:p>
            <a:pPr>
              <a:buNone/>
            </a:pPr>
            <a:r>
              <a:rPr lang="en-US" sz="2000" b="1" dirty="0"/>
              <a:t>Key Objectives: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Visualize life expectancy trends across countries and years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Enable comparison using slicers and filters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Identify patterns and insights from global health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Support data-driven decision-making through dashboards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04139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92D15-41B4-89C1-0EA3-03BC9FA16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99528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System  Approach: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7E8EE-7F26-D809-3523-C58876935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409" y="1715586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IN" sz="2000" b="1" dirty="0"/>
              <a:t>System Requirements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Windows Operating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Microsoft Power BI Desktop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Life Expectancy Dataset (CSV / Excel)</a:t>
            </a:r>
          </a:p>
          <a:p>
            <a:pPr>
              <a:buNone/>
            </a:pPr>
            <a:r>
              <a:rPr lang="en-IN" sz="2000" b="1" dirty="0"/>
              <a:t>Technologies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Power BI Desktop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Data Modeling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Power Query (ETL)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DAX (Data Analysis Expressions)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Interactive Dashboards &amp; Visuals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3501125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DBEE6-616C-2711-86DB-C62E77D17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procedure: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07410-DE3D-5F62-F9D7-11EAEA92F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572196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1800" b="1" dirty="0"/>
              <a:t>Data Collection &amp; Preprocessing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Imported life expectancy dataset into Power BI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Cleaned missing and inconsistent values using Power Query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Renamed columns for clarity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Converted data types (year, numeric values)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Created relationships between tables (if applicable)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1199084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BB8DCC-3553-0820-663E-38FD02775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7BA0A-296A-582F-6C1E-3713FAB59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Dashboard design and analysis: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7BD59-046F-E320-BD4C-0CDAA8BAE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572196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2000" b="1" dirty="0"/>
              <a:t>Visuals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Line charts to show life expectancy trends over years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Bar charts for country-wise comparison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Map visualization for geographic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KPI cards for average life expectancy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Slicers for year and country selection</a:t>
            </a:r>
          </a:p>
          <a:p>
            <a:pPr>
              <a:buNone/>
            </a:pPr>
            <a:r>
              <a:rPr lang="en-US" sz="2000" b="1" dirty="0"/>
              <a:t>Interactivity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Dynamic filtering using slicers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Drill-down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Real-time visual updates based on selection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378157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F756E-D4E1-5A9A-636A-7FA06EC3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Result:</a:t>
            </a:r>
            <a:endParaRPr lang="en-US" sz="4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2DB27FA-F134-E888-FA22-2989E5989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32CA5D-E066-F8CA-80F0-F513391B7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309" y="1266031"/>
            <a:ext cx="9181381" cy="5164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42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3828F2-E5CF-C414-46F2-B6F68687C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BC707-D1F6-7601-F710-263401A51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Result:</a:t>
            </a:r>
            <a:endParaRPr lang="en-US" sz="4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EE8CA2F-3135-A4CA-B0FF-8F1D2E67B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4513A9-5507-5679-094F-FE8E7FC62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66031"/>
            <a:ext cx="9448800" cy="531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352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F4B61F-DB38-6FFE-2812-47F5F0D27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2C180-7B27-6F97-26D5-8D5E6070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Result:</a:t>
            </a:r>
            <a:endParaRPr lang="en-US" sz="4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98EFAC-8411-DE9F-4E3E-4E61AF4A2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6C9BBB-DE47-6EEE-0B53-3FC7B4023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07" y="1266031"/>
            <a:ext cx="9509185" cy="5348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542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E108AB-3248-BB1A-B8E4-92CF731AB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3C244-A3DA-19F6-C3BE-F979B3C86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Result:</a:t>
            </a:r>
            <a:endParaRPr lang="en-US" sz="4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D54FBF-845C-AED2-9964-7856D3C3C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9C8F2E-77E2-7984-F7E4-995194CB8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917" y="1266031"/>
            <a:ext cx="9140165" cy="514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072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588B28-4DF0-7EFE-2528-9FA7A26DB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71944-18E8-D415-36F4-26EE75EE8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Result:</a:t>
            </a:r>
            <a:endParaRPr lang="en-US" sz="4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90DC95E-13D2-3A54-0757-749998B2B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6F73A5-12EC-169F-F2E2-EE32ED30C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490" y="1356504"/>
            <a:ext cx="9259019" cy="5208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792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396BB-D4E8-514D-53F4-27AADA666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Conclusion: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89DDB-698E-B624-5621-F9D79482F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589" y="1622391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2000" dirty="0"/>
              <a:t>	This project demonstrates how Power BI can be effectively used for data visualization and analytical reporting.</a:t>
            </a:r>
            <a:br>
              <a:rPr lang="en-US" sz="2000" dirty="0"/>
            </a:br>
            <a:r>
              <a:rPr lang="en-US" sz="2000" dirty="0"/>
              <a:t>By analyzing life expectancy data, the dashboard provides meaningful insights into global health patterns.</a:t>
            </a:r>
          </a:p>
          <a:p>
            <a:pPr>
              <a:buNone/>
            </a:pPr>
            <a:r>
              <a:rPr lang="en-US" sz="2000" dirty="0"/>
              <a:t>	The project improved practical skills in:</a:t>
            </a:r>
          </a:p>
          <a:p>
            <a:pPr lvl="1"/>
            <a:r>
              <a:rPr lang="en-US" sz="2000" dirty="0"/>
              <a:t>Data cleaning and transformation</a:t>
            </a:r>
          </a:p>
          <a:p>
            <a:pPr lvl="1"/>
            <a:r>
              <a:rPr lang="en-US" sz="2000" dirty="0"/>
              <a:t>Dashboard design</a:t>
            </a:r>
          </a:p>
          <a:p>
            <a:pPr lvl="1"/>
            <a:r>
              <a:rPr lang="en-US" sz="2000" dirty="0"/>
              <a:t>Interactive data analysis</a:t>
            </a: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245309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403C0-6D6C-CF0D-D01B-94F3DED1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Future scope: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C79AB-5BF9-3911-CAE8-5E44B0DF2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071" y="130443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</a:pPr>
            <a:endParaRPr lang="en-US" sz="2200" dirty="0">
              <a:latin typeface="Franklin Gothic Book"/>
            </a:endParaRPr>
          </a:p>
          <a:p>
            <a:r>
              <a:rPr lang="en-US" sz="2200" dirty="0"/>
              <a:t>Integration of additional health indicators (mortality rate, healthcare spending)</a:t>
            </a:r>
          </a:p>
          <a:p>
            <a:r>
              <a:rPr lang="en-US" sz="2200" dirty="0"/>
              <a:t>Predictive analysis using Power BI + Python/R</a:t>
            </a:r>
          </a:p>
          <a:p>
            <a:r>
              <a:rPr lang="en-US" sz="2200" dirty="0"/>
              <a:t>Real-time data integration</a:t>
            </a:r>
          </a:p>
          <a:p>
            <a:r>
              <a:rPr lang="en-US" sz="2200" dirty="0"/>
              <a:t>Deployment using Power BI Service</a:t>
            </a:r>
          </a:p>
          <a:p>
            <a:r>
              <a:rPr lang="en-US" sz="2200" dirty="0"/>
              <a:t>Advanced DAX calculations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3744199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D7BEC-26CE-96DB-DC10-B2897FA51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References: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198D1-2392-A218-1A4C-10F40FCB8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804" y="1551125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2200" dirty="0">
                <a:latin typeface="Franklin Gothic Book"/>
                <a:hlinkClick r:id="rId2"/>
              </a:rPr>
              <a:t>https://learn.microsoft.com/en-us/power-bi/</a:t>
            </a:r>
            <a:endParaRPr lang="en-IN" sz="2200" dirty="0">
              <a:latin typeface="Franklin Gothic Book"/>
            </a:endParaRPr>
          </a:p>
          <a:p>
            <a:r>
              <a:rPr lang="en-IN" sz="2200" dirty="0">
                <a:latin typeface="Franklin Gothic Book"/>
                <a:hlinkClick r:id="rId3"/>
              </a:rPr>
              <a:t>https://powerbi.microsoft.com/</a:t>
            </a:r>
            <a:endParaRPr lang="en-IN" sz="2200" dirty="0">
              <a:latin typeface="Franklin Gothic Book"/>
            </a:endParaRPr>
          </a:p>
          <a:p>
            <a:r>
              <a:rPr lang="en-IN" sz="2200" dirty="0">
                <a:latin typeface="Franklin Gothic Book"/>
                <a:hlinkClick r:id="rId4"/>
              </a:rPr>
              <a:t>https://www.who.int/data</a:t>
            </a:r>
            <a:endParaRPr lang="en-IN" sz="2200" dirty="0">
              <a:latin typeface="Franklin Gothic Book"/>
            </a:endParaRPr>
          </a:p>
          <a:p>
            <a:r>
              <a:rPr lang="en-IN" sz="2200" dirty="0">
                <a:latin typeface="Franklin Gothic Book"/>
                <a:hlinkClick r:id="rId5"/>
              </a:rPr>
              <a:t>https://www.kaggle.com/datasets</a:t>
            </a:r>
            <a:endParaRPr lang="en-IN" sz="2200" dirty="0">
              <a:latin typeface="Franklin Gothic Book"/>
            </a:endParaRPr>
          </a:p>
          <a:p>
            <a:r>
              <a:rPr lang="en-IN" sz="2200" dirty="0">
                <a:latin typeface="Franklin Gothic Book"/>
                <a:hlinkClick r:id="rId6"/>
              </a:rPr>
              <a:t>https://learn.microsoft.com/en-us/power-query/</a:t>
            </a:r>
            <a:endParaRPr lang="en-IN" sz="2200" dirty="0">
              <a:latin typeface="Franklin Gothic Book"/>
            </a:endParaRPr>
          </a:p>
          <a:p>
            <a:pPr marL="0" indent="0">
              <a:buNone/>
            </a:pPr>
            <a:endParaRPr lang="en-IN" sz="2200" dirty="0">
              <a:latin typeface="Franklin Gothic Book"/>
            </a:endParaRPr>
          </a:p>
          <a:p>
            <a:pPr marL="0" indent="0">
              <a:buNone/>
            </a:pPr>
            <a:r>
              <a:rPr lang="en-IN" sz="2200" dirty="0">
                <a:latin typeface="Franklin Gothic Book"/>
              </a:rPr>
              <a:t>GitHub Link:</a:t>
            </a:r>
            <a:r>
              <a:rPr lang="en-IN" sz="2200" dirty="0">
                <a:solidFill>
                  <a:srgbClr val="0070C0"/>
                </a:solidFill>
                <a:latin typeface="Franklin Gothic Book"/>
              </a:rPr>
              <a:t> </a:t>
            </a:r>
            <a:endParaRPr lang="en-IN" sz="2200" u="sng" dirty="0">
              <a:solidFill>
                <a:srgbClr val="0070C0"/>
              </a:solidFill>
              <a:latin typeface="Franklin Gothic Book"/>
            </a:endParaRPr>
          </a:p>
          <a:p>
            <a:pPr marL="0" indent="0">
              <a:buNone/>
            </a:pPr>
            <a:endParaRPr lang="en-IN" sz="2200" u="sng" dirty="0">
              <a:solidFill>
                <a:srgbClr val="0070C0"/>
              </a:solidFill>
              <a:latin typeface="Franklin Gothic Book"/>
            </a:endParaRPr>
          </a:p>
          <a:p>
            <a:pPr marL="0" indent="0">
              <a:buNone/>
            </a:pPr>
            <a:endParaRPr lang="en-IN" sz="2200" dirty="0">
              <a:latin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1691700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143E5-DB51-E32C-9252-0ED5EF288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E97B5AD-3B10-086C-32EF-8A2EAD5287C2}"/>
              </a:ext>
            </a:extLst>
          </p:cNvPr>
          <p:cNvSpPr txBox="1">
            <a:spLocks/>
          </p:cNvSpPr>
          <p:nvPr/>
        </p:nvSpPr>
        <p:spPr>
          <a:xfrm>
            <a:off x="314324" y="6312352"/>
            <a:ext cx="3724275" cy="295275"/>
          </a:xfrm>
          <a:prstGeom prst="rect">
            <a:avLst/>
          </a:prstGeom>
        </p:spPr>
        <p:txBody>
          <a:bodyPr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indent="-173736">
              <a:buFont typeface="Arial" pitchFamily="34" charset="0"/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AFC7433E-E155-E68D-4C00-FCB38967C6F9}"/>
              </a:ext>
            </a:extLst>
          </p:cNvPr>
          <p:cNvSpPr txBox="1">
            <a:spLocks/>
          </p:cNvSpPr>
          <p:nvPr/>
        </p:nvSpPr>
        <p:spPr>
          <a:xfrm>
            <a:off x="3247621" y="3009471"/>
            <a:ext cx="5696757" cy="83905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solidFill>
                  <a:srgbClr val="002060"/>
                </a:solidFill>
                <a:latin typeface="Arial"/>
                <a:cs typeface="Arial"/>
              </a:rPr>
              <a:t>Thank You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46020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OFFICE THEME" val="TmdBxN3j"/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506</Words>
  <Application>Microsoft Office PowerPoint</Application>
  <PresentationFormat>Widescreen</PresentationFormat>
  <Paragraphs>88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Franklin Gothic Book</vt:lpstr>
      <vt:lpstr>1_Office Theme</vt:lpstr>
      <vt:lpstr>Custom Design</vt:lpstr>
      <vt:lpstr>PowerPoint Presentation</vt:lpstr>
      <vt:lpstr>OUTLINE:</vt:lpstr>
      <vt:lpstr>Problem Statement:</vt:lpstr>
      <vt:lpstr>Proposed Solution:</vt:lpstr>
      <vt:lpstr>System  Approach:</vt:lpstr>
      <vt:lpstr>procedure:</vt:lpstr>
      <vt:lpstr>Dashboard design and analysis:</vt:lpstr>
      <vt:lpstr>Result:</vt:lpstr>
      <vt:lpstr>Result:</vt:lpstr>
      <vt:lpstr>Result:</vt:lpstr>
      <vt:lpstr>Result:</vt:lpstr>
      <vt:lpstr>Result:</vt:lpstr>
      <vt:lpstr>Conclusion:</vt:lpstr>
      <vt:lpstr>Future scope:</vt:lpstr>
      <vt:lpstr>References: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Vikrant Nath Nagar</dc:creator>
  <cp:lastModifiedBy>Prasanth M</cp:lastModifiedBy>
  <cp:revision>101</cp:revision>
  <dcterms:created xsi:type="dcterms:W3CDTF">2024-05-21T11:55:07Z</dcterms:created>
  <dcterms:modified xsi:type="dcterms:W3CDTF">2026-01-22T11:15:30Z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8775663C-0243-495A-BCAB-F653BDE41EC7</vt:lpwstr>
  </property>
  <property fmtid="{D5CDD505-2E9C-101B-9397-08002B2CF9AE}" pid="3" name="ArticulatePath">
    <vt:lpwstr>https://edunetfoundationorg-my.sharepoint.com/personal/kaisar_edunetfoundation_org/Documents/Beutified ppt/MSITI/Micro Degree/Content/Module 4 Data Science/PPT/1. Introduction to Data Science</vt:lpwstr>
  </property>
</Properties>
</file>